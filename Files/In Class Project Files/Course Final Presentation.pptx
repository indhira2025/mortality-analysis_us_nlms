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44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E36DD15-4EA1-4368-8417-C3E36D5FD9DC}">
  <a:tblStyle styleId="{4E36DD15-4EA1-4368-8417-C3E36D5FD9D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76D2537F-7405-48B9-872D-5BA3B2A5F577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44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91463da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91463da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Nicole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driving excess mortality from cardiovascular disease, cancer, and respiratory illnesses</a:t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ambria"/>
              <a:ea typeface="Cambria"/>
              <a:cs typeface="Cambria"/>
              <a:sym typeface="Cambria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91463daa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91463daa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Nicole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91463daa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91463daa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Nicole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91463daaa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a91463daa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Nicole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91463daa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91463daa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Indhira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a91463daaa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a91463daa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Indhira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a91463daaa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a91463daaa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Indhira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a91463daaa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a91463daaa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Naman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91463daaa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91463daaa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Naman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91463daaa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a91463daaa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Naman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91463daaa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91463daaa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Naman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a91463daaa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a91463daaa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Indhira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91463daaa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a91463daaa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biolincc.nhlbi.nih.gov/requests/public-use-dataset-request/17175/" TargetMode="External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4.png"/><Relationship Id="rId7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7.png"/><Relationship Id="rId4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16.png"/><Relationship Id="rId7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80"/>
              <a:t>Modeling Lifestyle Factors and Smoking Mortality in the U.S. Using Big Data:</a:t>
            </a:r>
            <a:endParaRPr sz="318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180"/>
              <a:t>An Analysis of the National Longitudinal Mortality Study, Tobacco-Use Cohort</a:t>
            </a:r>
            <a:endParaRPr sz="318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33860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1" lang="en" sz="2000">
                <a:solidFill>
                  <a:schemeClr val="dk1"/>
                </a:solidFill>
              </a:rPr>
              <a:t>Naman Dhariwal, </a:t>
            </a:r>
            <a:r>
              <a:rPr b="1" i="1" lang="en" sz="2000">
                <a:solidFill>
                  <a:schemeClr val="dk1"/>
                </a:solidFill>
              </a:rPr>
              <a:t>Nicole Jerome, </a:t>
            </a:r>
            <a:r>
              <a:rPr b="1" i="1" lang="en" sz="2000">
                <a:solidFill>
                  <a:schemeClr val="dk1"/>
                </a:solidFill>
              </a:rPr>
              <a:t>Indhira Vadivel</a:t>
            </a:r>
            <a:endParaRPr i="1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349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rPr>
              <a:t>Cigarette smoking remains one of the leading preventable causes of death worldwide.</a:t>
            </a:r>
            <a:endParaRPr sz="3000"/>
          </a:p>
        </p:txBody>
      </p:sp>
      <p:sp>
        <p:nvSpPr>
          <p:cNvPr id="62" name="Google Shape;62;p14"/>
          <p:cNvSpPr/>
          <p:nvPr/>
        </p:nvSpPr>
        <p:spPr>
          <a:xfrm rot="2698706">
            <a:off x="2943778" y="2031438"/>
            <a:ext cx="563635" cy="1080601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/>
          <p:nvPr/>
        </p:nvSpPr>
        <p:spPr>
          <a:xfrm rot="3464928">
            <a:off x="3183863" y="2611332"/>
            <a:ext cx="563309" cy="1080255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14"/>
          <p:cNvSpPr/>
          <p:nvPr/>
        </p:nvSpPr>
        <p:spPr>
          <a:xfrm rot="5981283">
            <a:off x="3183867" y="3361111"/>
            <a:ext cx="563334" cy="1080355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000" y="3192350"/>
            <a:ext cx="2305775" cy="1528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89279" y="218932"/>
            <a:ext cx="2943225" cy="15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89325" y="1725082"/>
            <a:ext cx="2943225" cy="160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89275" y="3318550"/>
            <a:ext cx="2943225" cy="16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4"/>
          <p:cNvSpPr txBox="1"/>
          <p:nvPr/>
        </p:nvSpPr>
        <p:spPr>
          <a:xfrm>
            <a:off x="7163550" y="564516"/>
            <a:ext cx="18789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Cardiovascular Disease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0" name="Google Shape;70;p14"/>
          <p:cNvSpPr txBox="1"/>
          <p:nvPr/>
        </p:nvSpPr>
        <p:spPr>
          <a:xfrm>
            <a:off x="7163550" y="2303975"/>
            <a:ext cx="18789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Cancer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1" name="Google Shape;71;p14"/>
          <p:cNvSpPr txBox="1"/>
          <p:nvPr/>
        </p:nvSpPr>
        <p:spPr>
          <a:xfrm>
            <a:off x="7177400" y="3826912"/>
            <a:ext cx="1878900" cy="7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Respiratory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Illness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>
            <p:ph type="title"/>
          </p:nvPr>
        </p:nvSpPr>
        <p:spPr>
          <a:xfrm>
            <a:off x="311700" y="22190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Background Literature</a:t>
            </a:r>
            <a:endParaRPr/>
          </a:p>
        </p:txBody>
      </p:sp>
      <p:sp>
        <p:nvSpPr>
          <p:cNvPr id="77" name="Google Shape;77;p15"/>
          <p:cNvSpPr txBox="1"/>
          <p:nvPr>
            <p:ph idx="1" type="body"/>
          </p:nvPr>
        </p:nvSpPr>
        <p:spPr>
          <a:xfrm>
            <a:off x="311700" y="2365079"/>
            <a:ext cx="8520600" cy="236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Study: In 2024, researchers used </a:t>
            </a:r>
            <a:r>
              <a:rPr b="1" lang="en"/>
              <a:t>machine </a:t>
            </a:r>
            <a:r>
              <a:rPr b="1" lang="en"/>
              <a:t>learning</a:t>
            </a:r>
            <a:r>
              <a:rPr lang="en"/>
              <a:t> to model the effects of lifestyle, environmental, and socioeconomic factors, along with tobacco use attributes on mental health.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Findings: Addiction attributes like</a:t>
            </a:r>
            <a:r>
              <a:rPr b="1" lang="en"/>
              <a:t> tobacco and alcohol use</a:t>
            </a:r>
            <a:r>
              <a:rPr lang="en"/>
              <a:t> were highly informative features in the model.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Limitations: The study used a </a:t>
            </a:r>
            <a:r>
              <a:rPr b="1" lang="en"/>
              <a:t>small cohort</a:t>
            </a:r>
            <a:r>
              <a:rPr lang="en"/>
              <a:t> of participants in Barcelona. Mortality prediction was not assessed.</a:t>
            </a:r>
            <a:endParaRPr/>
          </a:p>
        </p:txBody>
      </p:sp>
      <p:grpSp>
        <p:nvGrpSpPr>
          <p:cNvPr id="78" name="Google Shape;78;p15"/>
          <p:cNvGrpSpPr/>
          <p:nvPr/>
        </p:nvGrpSpPr>
        <p:grpSpPr>
          <a:xfrm>
            <a:off x="3820150" y="127975"/>
            <a:ext cx="5182951" cy="1978375"/>
            <a:chOff x="3820150" y="127975"/>
            <a:chExt cx="5182951" cy="1978375"/>
          </a:xfrm>
        </p:grpSpPr>
        <p:pic>
          <p:nvPicPr>
            <p:cNvPr id="79" name="Google Shape;79;p15"/>
            <p:cNvPicPr preferRelativeResize="0"/>
            <p:nvPr/>
          </p:nvPicPr>
          <p:blipFill rotWithShape="1">
            <a:blip r:embed="rId3">
              <a:alphaModFix/>
            </a:blip>
            <a:srcRect b="67690" l="0" r="0" t="0"/>
            <a:stretch/>
          </p:blipFill>
          <p:spPr>
            <a:xfrm>
              <a:off x="3820150" y="127975"/>
              <a:ext cx="5182951" cy="7692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15"/>
            <p:cNvPicPr preferRelativeResize="0"/>
            <p:nvPr/>
          </p:nvPicPr>
          <p:blipFill rotWithShape="1">
            <a:blip r:embed="rId3">
              <a:alphaModFix/>
            </a:blip>
            <a:srcRect b="0" l="0" r="0" t="33801"/>
            <a:stretch/>
          </p:blipFill>
          <p:spPr>
            <a:xfrm>
              <a:off x="3820150" y="530325"/>
              <a:ext cx="5182951" cy="1576025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975" y="959902"/>
            <a:ext cx="3400175" cy="124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25713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National Longitudinal Mortality Study (NLMS) Tobacco-Use Dataset:</a:t>
            </a:r>
            <a:endParaRPr/>
          </a:p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493225" y="1116616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500,000 participants in the United States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5 years of follow up (1-1827 days) with mortality outcomes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Real World Comprehensive data on smoking behaviors, demographics, socioeconomic status, and lifestyle factors(43 variables)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88" name="Google Shape;88;p16"/>
          <p:cNvGraphicFramePr/>
          <p:nvPr/>
        </p:nvGraphicFramePr>
        <p:xfrm>
          <a:off x="371225" y="27348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{4E36DD15-4EA1-4368-8417-C3E36D5FD9DC}</a:tableStyleId>
              </a:tblPr>
              <a:tblGrid>
                <a:gridCol w="4200775"/>
                <a:gridCol w="42007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Variable Category: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Examples: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Demographic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Age, Sex, Race, Marital 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Socioeconomic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Education, Adjusted Income, Poverty Ratio, Employment Status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Smoking-Related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Duration, Smoking Frequency, Cigarettes/Day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Mortality Outcome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Death Indicator, Days to Death, Cause of Death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Objective and Research Questions:</a:t>
            </a:r>
            <a:endParaRPr/>
          </a:p>
        </p:txBody>
      </p:sp>
      <p:sp>
        <p:nvSpPr>
          <p:cNvPr id="94" name="Google Shape;94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Objective:</a:t>
            </a:r>
            <a:r>
              <a:rPr lang="en"/>
              <a:t>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Predict mortality risk among smokers while accounting 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demographic and socioeconomic characteristics.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/>
              <a:t>Research Questions:</a:t>
            </a:r>
            <a:endParaRPr u="sng"/>
          </a:p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Which demographic or socioeconomic factors (income, education, race, etc.) modify the smoking–mortality association?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Can we build accurate and interpretable models to predict mortality risk among smokers?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does time since smoking initiation relate to 5-year mortality risk?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What are the most influential factors in mortality prediction?</a:t>
            </a:r>
            <a:endParaRPr sz="1700"/>
          </a:p>
        </p:txBody>
      </p:sp>
      <p:pic>
        <p:nvPicPr>
          <p:cNvPr id="95" name="Google Shape;95;p17"/>
          <p:cNvPicPr preferRelativeResize="0"/>
          <p:nvPr/>
        </p:nvPicPr>
        <p:blipFill rotWithShape="1">
          <a:blip r:embed="rId3">
            <a:alphaModFix/>
          </a:blip>
          <a:srcRect b="16540" l="15822" r="17417" t="8311"/>
          <a:stretch/>
        </p:blipFill>
        <p:spPr>
          <a:xfrm>
            <a:off x="6132325" y="892827"/>
            <a:ext cx="1608800" cy="14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7"/>
          <p:cNvPicPr preferRelativeResize="0"/>
          <p:nvPr/>
        </p:nvPicPr>
        <p:blipFill rotWithShape="1">
          <a:blip r:embed="rId4">
            <a:alphaModFix/>
          </a:blip>
          <a:srcRect b="20560" l="22540" r="21568" t="20240"/>
          <a:stretch/>
        </p:blipFill>
        <p:spPr>
          <a:xfrm>
            <a:off x="7805300" y="1072101"/>
            <a:ext cx="1197800" cy="126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General Project Workflow:</a:t>
            </a:r>
            <a:endParaRPr/>
          </a:p>
        </p:txBody>
      </p:sp>
      <p:sp>
        <p:nvSpPr>
          <p:cNvPr id="102" name="Google Shape;102;p18"/>
          <p:cNvSpPr/>
          <p:nvPr/>
        </p:nvSpPr>
        <p:spPr>
          <a:xfrm>
            <a:off x="742175" y="143735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 and Preprocessing</a:t>
            </a:r>
            <a:endParaRPr/>
          </a:p>
        </p:txBody>
      </p:sp>
      <p:sp>
        <p:nvSpPr>
          <p:cNvPr id="103" name="Google Shape;103;p18"/>
          <p:cNvSpPr/>
          <p:nvPr/>
        </p:nvSpPr>
        <p:spPr>
          <a:xfrm>
            <a:off x="3579750" y="143735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104" name="Google Shape;104;p18"/>
          <p:cNvSpPr/>
          <p:nvPr/>
        </p:nvSpPr>
        <p:spPr>
          <a:xfrm>
            <a:off x="6417325" y="143735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105" name="Google Shape;105;p18"/>
          <p:cNvSpPr/>
          <p:nvPr/>
        </p:nvSpPr>
        <p:spPr>
          <a:xfrm>
            <a:off x="742175" y="285800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Development, Selection, and Evaluation</a:t>
            </a:r>
            <a:endParaRPr/>
          </a:p>
        </p:txBody>
      </p:sp>
      <p:sp>
        <p:nvSpPr>
          <p:cNvPr id="106" name="Google Shape;106;p18"/>
          <p:cNvSpPr/>
          <p:nvPr/>
        </p:nvSpPr>
        <p:spPr>
          <a:xfrm>
            <a:off x="3579750" y="285800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Profiling and Interpretation</a:t>
            </a:r>
            <a:endParaRPr/>
          </a:p>
        </p:txBody>
      </p:sp>
      <p:sp>
        <p:nvSpPr>
          <p:cNvPr id="107" name="Google Shape;107;p18"/>
          <p:cNvSpPr/>
          <p:nvPr/>
        </p:nvSpPr>
        <p:spPr>
          <a:xfrm>
            <a:off x="6417325" y="285800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Reproducibility and Documentation</a:t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2844175" y="168560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sp>
        <p:nvSpPr>
          <p:cNvPr id="109" name="Google Shape;109;p18"/>
          <p:cNvSpPr/>
          <p:nvPr/>
        </p:nvSpPr>
        <p:spPr>
          <a:xfrm>
            <a:off x="5662275" y="168560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sp>
        <p:nvSpPr>
          <p:cNvPr id="110" name="Google Shape;110;p18"/>
          <p:cNvSpPr/>
          <p:nvPr/>
        </p:nvSpPr>
        <p:spPr>
          <a:xfrm>
            <a:off x="8480375" y="168560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2844175" y="310625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sp>
        <p:nvSpPr>
          <p:cNvPr id="112" name="Google Shape;112;p18"/>
          <p:cNvSpPr/>
          <p:nvPr/>
        </p:nvSpPr>
        <p:spPr>
          <a:xfrm>
            <a:off x="5662275" y="310625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 and Preprocessing</a:t>
            </a:r>
            <a:endParaRPr/>
          </a:p>
        </p:txBody>
      </p:sp>
      <p:sp>
        <p:nvSpPr>
          <p:cNvPr id="118" name="Google Shape;118;p19"/>
          <p:cNvSpPr txBox="1"/>
          <p:nvPr>
            <p:ph idx="1" type="body"/>
          </p:nvPr>
        </p:nvSpPr>
        <p:spPr>
          <a:xfrm>
            <a:off x="311700" y="1017725"/>
            <a:ext cx="5184300" cy="398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  <a:highlight>
                  <a:schemeClr val="lt1"/>
                </a:highlight>
              </a:rPr>
              <a:t>NIH-Biologic Specimen and Data Repository Information Coordinating Center</a:t>
            </a:r>
            <a:endParaRPr sz="1500">
              <a:solidFill>
                <a:schemeClr val="dk1"/>
              </a:solidFill>
              <a:highlight>
                <a:schemeClr val="lt1"/>
              </a:highlight>
            </a:endParaRPr>
          </a:p>
          <a:p>
            <a:pPr indent="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u="sng">
                <a:solidFill>
                  <a:srgbClr val="1155CC"/>
                </a:solidFill>
                <a:highlight>
                  <a:srgbClr val="FFFFFF"/>
                </a:highlight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https://biolincc.nhlbi.nih.gov/requests/public-use-dataset-request/17175/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Import NLMS Tobacco-Use data into a distributed environment using R (data.table, arrow) and Python (PySpark, Dask).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Perform data cleaning: find missing values, recode categorical variables, and derive key variables (e.g., smoking duration in days).</a:t>
            </a:r>
            <a:endParaRPr sz="1500">
              <a:solidFill>
                <a:schemeClr val="dk1"/>
              </a:solidFill>
            </a:endParaRPr>
          </a:p>
          <a:p>
            <a:pPr indent="-323850" lvl="0" marL="4572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</a:pPr>
            <a:r>
              <a:rPr lang="en" sz="1500">
                <a:solidFill>
                  <a:schemeClr val="dk1"/>
                </a:solidFill>
              </a:rPr>
              <a:t>Partition data into training, validation, and test sets using stratified sampling to preserve mortality proportions.</a:t>
            </a:r>
            <a:endParaRPr sz="1500"/>
          </a:p>
        </p:txBody>
      </p:sp>
      <p:pic>
        <p:nvPicPr>
          <p:cNvPr id="119" name="Google Shape;11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9350" y="318400"/>
            <a:ext cx="1350825" cy="1350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600175" y="814975"/>
            <a:ext cx="1073200" cy="107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96200" y="2295391"/>
            <a:ext cx="2391275" cy="118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9"/>
          <p:cNvPicPr preferRelativeResize="0"/>
          <p:nvPr/>
        </p:nvPicPr>
        <p:blipFill rotWithShape="1">
          <a:blip r:embed="rId7">
            <a:alphaModFix/>
          </a:blip>
          <a:srcRect b="37898" l="8885" r="9747" t="7797"/>
          <a:stretch/>
        </p:blipFill>
        <p:spPr>
          <a:xfrm>
            <a:off x="5775227" y="3821900"/>
            <a:ext cx="3159215" cy="1180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graphicFrame>
        <p:nvGraphicFramePr>
          <p:cNvPr id="128" name="Google Shape;128;p20"/>
          <p:cNvGraphicFramePr/>
          <p:nvPr/>
        </p:nvGraphicFramePr>
        <p:xfrm>
          <a:off x="483325" y="1518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{76D2537F-7405-48B9-872D-5BA3B2A5F577}</a:tableStyleId>
              </a:tblPr>
              <a:tblGrid>
                <a:gridCol w="2312525"/>
                <a:gridCol w="4239000"/>
                <a:gridCol w="1372700"/>
              </a:tblGrid>
              <a:tr h="44077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EDA 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Big-Data Technique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/>
                        <a:t>Tool</a:t>
                      </a:r>
                      <a:endParaRPr b="1"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75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Large-scale summary stats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Columnar scan, lazy evaluation, distributed summarise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Arrow + dplyr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8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Univariate relationships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Distributed group-by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Arrow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Multivariable GLMs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Chunk-wise model fitting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bigglm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58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Scalable plotting &amp; </a:t>
                      </a:r>
                      <a:r>
                        <a:rPr lang="en" sz="1500">
                          <a:solidFill>
                            <a:schemeClr val="dk1"/>
                          </a:solidFill>
                        </a:rPr>
                        <a:t>Visualizing risk patterns 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Sampling via Arrow; aggregation before plotting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Arrow + ggplot2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1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Quantiles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Approximate quantiles (fast, streaming)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/>
                        <a:t>Arrow</a:t>
                      </a:r>
                      <a:endParaRPr sz="15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38175" y="2562773"/>
            <a:ext cx="3071500" cy="22918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21"/>
          <p:cNvSpPr txBox="1"/>
          <p:nvPr>
            <p:ph idx="1" type="body"/>
          </p:nvPr>
        </p:nvSpPr>
        <p:spPr>
          <a:xfrm>
            <a:off x="311700" y="1152475"/>
            <a:ext cx="609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Encode demographic and socioeconomic variables using one-hot or label encoding.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Transforming data by </a:t>
            </a:r>
            <a:r>
              <a:rPr lang="en">
                <a:solidFill>
                  <a:schemeClr val="dk1"/>
                </a:solidFill>
              </a:rPr>
              <a:t>standardization</a:t>
            </a:r>
            <a:r>
              <a:rPr lang="en">
                <a:solidFill>
                  <a:schemeClr val="dk1"/>
                </a:solidFill>
              </a:rPr>
              <a:t> techniques like </a:t>
            </a:r>
            <a:r>
              <a:rPr i="1" lang="en">
                <a:solidFill>
                  <a:schemeClr val="dk1"/>
                </a:solidFill>
              </a:rPr>
              <a:t>StandardScaler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Derive </a:t>
            </a:r>
            <a:r>
              <a:rPr lang="en">
                <a:solidFill>
                  <a:schemeClr val="dk1"/>
                </a:solidFill>
              </a:rPr>
              <a:t>crucial</a:t>
            </a:r>
            <a:r>
              <a:rPr lang="en">
                <a:solidFill>
                  <a:schemeClr val="dk1"/>
                </a:solidFill>
              </a:rPr>
              <a:t> lifestyle features (marital status, employment type, income categories) for model inclusion.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Imputing missing data but statically significant values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6" name="Google Shape;1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10700" y="782600"/>
            <a:ext cx="2428500" cy="1616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Development, Selection, and Evaluation</a:t>
            </a:r>
            <a:endParaRPr/>
          </a:p>
        </p:txBody>
      </p:sp>
      <p:sp>
        <p:nvSpPr>
          <p:cNvPr id="142" name="Google Shape;142;p22"/>
          <p:cNvSpPr txBox="1"/>
          <p:nvPr>
            <p:ph idx="1" type="body"/>
          </p:nvPr>
        </p:nvSpPr>
        <p:spPr>
          <a:xfrm>
            <a:off x="311700" y="1152475"/>
            <a:ext cx="609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Train baseline statistical models: Logistic Regression or Random Forest as baselines.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Implement scalable machine learning models using distributed frameworks: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Gradient boosting (XGBoost)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Deep Neural Networks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" sz="1800">
                <a:solidFill>
                  <a:schemeClr val="dk1"/>
                </a:solidFill>
              </a:rPr>
              <a:t>Regularized models (L1/L2)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Compare classical survival analysis with ML-based mortality prediction.</a:t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0800" y="2849153"/>
            <a:ext cx="2652450" cy="14853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0800" y="1237725"/>
            <a:ext cx="2652450" cy="1485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Profiling and Interpretation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3"/>
          <p:cNvSpPr txBox="1"/>
          <p:nvPr>
            <p:ph idx="1" type="body"/>
          </p:nvPr>
        </p:nvSpPr>
        <p:spPr>
          <a:xfrm>
            <a:off x="311700" y="1258163"/>
            <a:ext cx="8522100" cy="126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Evaluate models and substantiate good fit.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Generate mortality risk scores stratified by smoking duration, sex, age, and socioeconomic status.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Identify feature </a:t>
            </a:r>
            <a:r>
              <a:rPr lang="en">
                <a:solidFill>
                  <a:schemeClr val="dk1"/>
                </a:solidFill>
              </a:rPr>
              <a:t>importance</a:t>
            </a:r>
            <a:r>
              <a:rPr lang="en">
                <a:solidFill>
                  <a:schemeClr val="dk1"/>
                </a:solidFill>
              </a:rPr>
              <a:t> and crucial predictors.</a:t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 rotWithShape="1">
          <a:blip r:embed="rId3">
            <a:alphaModFix/>
          </a:blip>
          <a:srcRect b="16540" l="15822" r="17417" t="8311"/>
          <a:stretch/>
        </p:blipFill>
        <p:spPr>
          <a:xfrm>
            <a:off x="436888" y="2771727"/>
            <a:ext cx="1608800" cy="142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3"/>
          <p:cNvPicPr preferRelativeResize="0"/>
          <p:nvPr/>
        </p:nvPicPr>
        <p:blipFill rotWithShape="1">
          <a:blip r:embed="rId4">
            <a:alphaModFix/>
          </a:blip>
          <a:srcRect b="20560" l="22540" r="21568" t="20240"/>
          <a:stretch/>
        </p:blipFill>
        <p:spPr>
          <a:xfrm>
            <a:off x="7493594" y="2951001"/>
            <a:ext cx="1197800" cy="1268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24183" y="2838426"/>
            <a:ext cx="1835600" cy="183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90995" y="3099802"/>
            <a:ext cx="1682950" cy="111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40722" y="2873724"/>
            <a:ext cx="1424500" cy="142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Reproducibility and Documentation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Maintain version-controlled scripts using Git/GitHub.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Provide reproducible well-documented code notebooks and ready-to-use model, demonstrating the full pipeline.</a:t>
            </a:r>
            <a:endParaRPr/>
          </a:p>
        </p:txBody>
      </p:sp>
      <p:pic>
        <p:nvPicPr>
          <p:cNvPr id="162" name="Google Shape;162;p24"/>
          <p:cNvPicPr preferRelativeResize="0"/>
          <p:nvPr/>
        </p:nvPicPr>
        <p:blipFill rotWithShape="1">
          <a:blip r:embed="rId3">
            <a:alphaModFix/>
          </a:blip>
          <a:srcRect b="16832" l="0" r="0" t="0"/>
          <a:stretch/>
        </p:blipFill>
        <p:spPr>
          <a:xfrm>
            <a:off x="4572000" y="2366725"/>
            <a:ext cx="3503725" cy="210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9188" y="2606425"/>
            <a:ext cx="2809875" cy="1628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Progress:</a:t>
            </a:r>
            <a:endParaRPr/>
          </a:p>
        </p:txBody>
      </p:sp>
      <p:sp>
        <p:nvSpPr>
          <p:cNvPr id="169" name="Google Shape;169;p25"/>
          <p:cNvSpPr/>
          <p:nvPr/>
        </p:nvSpPr>
        <p:spPr>
          <a:xfrm>
            <a:off x="742175" y="143735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Acquisition and Preprocessing</a:t>
            </a:r>
            <a:endParaRPr/>
          </a:p>
        </p:txBody>
      </p:sp>
      <p:sp>
        <p:nvSpPr>
          <p:cNvPr id="170" name="Google Shape;170;p25"/>
          <p:cNvSpPr/>
          <p:nvPr/>
        </p:nvSpPr>
        <p:spPr>
          <a:xfrm>
            <a:off x="3579750" y="143735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Analysis</a:t>
            </a:r>
            <a:endParaRPr/>
          </a:p>
        </p:txBody>
      </p:sp>
      <p:sp>
        <p:nvSpPr>
          <p:cNvPr id="171" name="Google Shape;171;p25"/>
          <p:cNvSpPr/>
          <p:nvPr/>
        </p:nvSpPr>
        <p:spPr>
          <a:xfrm>
            <a:off x="6417325" y="143735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172" name="Google Shape;172;p25"/>
          <p:cNvSpPr/>
          <p:nvPr/>
        </p:nvSpPr>
        <p:spPr>
          <a:xfrm>
            <a:off x="742175" y="285800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Development, Selection, and Evaluation</a:t>
            </a:r>
            <a:endParaRPr/>
          </a:p>
        </p:txBody>
      </p:sp>
      <p:sp>
        <p:nvSpPr>
          <p:cNvPr id="173" name="Google Shape;173;p25"/>
          <p:cNvSpPr/>
          <p:nvPr/>
        </p:nvSpPr>
        <p:spPr>
          <a:xfrm>
            <a:off x="3579750" y="285800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Risk Profiling and Interpretation</a:t>
            </a:r>
            <a:endParaRPr/>
          </a:p>
        </p:txBody>
      </p:sp>
      <p:sp>
        <p:nvSpPr>
          <p:cNvPr id="174" name="Google Shape;174;p25"/>
          <p:cNvSpPr/>
          <p:nvPr/>
        </p:nvSpPr>
        <p:spPr>
          <a:xfrm>
            <a:off x="6417325" y="2858000"/>
            <a:ext cx="1984500" cy="848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Reproducibility and Documentation</a:t>
            </a:r>
            <a:endParaRPr/>
          </a:p>
        </p:txBody>
      </p:sp>
      <p:sp>
        <p:nvSpPr>
          <p:cNvPr id="175" name="Google Shape;175;p25"/>
          <p:cNvSpPr/>
          <p:nvPr/>
        </p:nvSpPr>
        <p:spPr>
          <a:xfrm>
            <a:off x="2844175" y="168560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sp>
        <p:nvSpPr>
          <p:cNvPr id="176" name="Google Shape;176;p25"/>
          <p:cNvSpPr/>
          <p:nvPr/>
        </p:nvSpPr>
        <p:spPr>
          <a:xfrm>
            <a:off x="5662275" y="168560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sp>
        <p:nvSpPr>
          <p:cNvPr id="177" name="Google Shape;177;p25"/>
          <p:cNvSpPr/>
          <p:nvPr/>
        </p:nvSpPr>
        <p:spPr>
          <a:xfrm>
            <a:off x="8480375" y="168560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sp>
        <p:nvSpPr>
          <p:cNvPr id="178" name="Google Shape;178;p25"/>
          <p:cNvSpPr/>
          <p:nvPr/>
        </p:nvSpPr>
        <p:spPr>
          <a:xfrm>
            <a:off x="2844175" y="310625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sp>
        <p:nvSpPr>
          <p:cNvPr id="179" name="Google Shape;179;p25"/>
          <p:cNvSpPr/>
          <p:nvPr/>
        </p:nvSpPr>
        <p:spPr>
          <a:xfrm>
            <a:off x="5662275" y="3106250"/>
            <a:ext cx="258300" cy="3522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1155CC"/>
              </a:highlight>
            </a:endParaRPr>
          </a:p>
        </p:txBody>
      </p:sp>
      <p:pic>
        <p:nvPicPr>
          <p:cNvPr id="180" name="Google Shape;180;p25"/>
          <p:cNvPicPr preferRelativeResize="0"/>
          <p:nvPr/>
        </p:nvPicPr>
        <p:blipFill rotWithShape="1">
          <a:blip r:embed="rId3">
            <a:alphaModFix/>
          </a:blip>
          <a:srcRect b="11696" l="20147" r="24395" t="8950"/>
          <a:stretch/>
        </p:blipFill>
        <p:spPr>
          <a:xfrm>
            <a:off x="311700" y="1060925"/>
            <a:ext cx="624675" cy="624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for Listening!</a:t>
            </a:r>
            <a:endParaRPr/>
          </a:p>
        </p:txBody>
      </p:sp>
      <p:pic>
        <p:nvPicPr>
          <p:cNvPr id="186" name="Google Shape;18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6596" y="1426358"/>
            <a:ext cx="4310813" cy="286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